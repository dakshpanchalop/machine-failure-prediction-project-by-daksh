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36"/>
  </p:notesMasterIdLst>
  <p:handoutMasterIdLst>
    <p:handoutMasterId r:id="rId37"/>
  </p:handoutMasterIdLst>
  <p:sldIdLst>
    <p:sldId id="256" r:id="rId5"/>
    <p:sldId id="260" r:id="rId6"/>
    <p:sldId id="296" r:id="rId7"/>
    <p:sldId id="275" r:id="rId8"/>
    <p:sldId id="297" r:id="rId9"/>
    <p:sldId id="276" r:id="rId10"/>
    <p:sldId id="277" r:id="rId11"/>
    <p:sldId id="298" r:id="rId12"/>
    <p:sldId id="278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9" r:id="rId30"/>
    <p:sldId id="300" r:id="rId31"/>
    <p:sldId id="301" r:id="rId32"/>
    <p:sldId id="302" r:id="rId33"/>
    <p:sldId id="303" r:id="rId34"/>
    <p:sldId id="274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5033" autoAdjust="0"/>
  </p:normalViewPr>
  <p:slideViewPr>
    <p:cSldViewPr snapToGrid="0" snapToObjects="1">
      <p:cViewPr varScale="1">
        <p:scale>
          <a:sx n="104" d="100"/>
          <a:sy n="104" d="100"/>
        </p:scale>
        <p:origin x="87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81A9-CFC2-4640-899E-DD3E177BE50A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05DA-80A8-4B7B-B889-6C5700BB4C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50F4-C55A-473A-A70B-4B042EF011A9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44625-0ADF-4414-89A2-9E135F0C84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31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400" b="1" kern="1200" cap="none" dirty="0">
              <a:solidFill>
                <a:schemeClr val="tx1"/>
              </a:solidFill>
              <a:effectLst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65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ntenance_new.xls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ight sky with mountains far away on the horizo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813" y="3097161"/>
            <a:ext cx="9449312" cy="1879120"/>
          </a:xfrm>
        </p:spPr>
        <p:txBody>
          <a:bodyPr>
            <a:noAutofit/>
          </a:bodyPr>
          <a:lstStyle/>
          <a:p>
            <a:r>
              <a:rPr lang="en-IN" sz="6600" dirty="0">
                <a:latin typeface="Bahnschrift Condensed" panose="020B0502040204020203" pitchFamily="34" charset="0"/>
              </a:rPr>
              <a:t>Machine Failure Prediction</a:t>
            </a:r>
            <a:endParaRPr lang="en-US" sz="6600" b="1" dirty="0">
              <a:latin typeface="Bahnschrift Condense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76282"/>
            <a:ext cx="7197726" cy="1405467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SzPct val="200000"/>
            </a:pPr>
            <a:r>
              <a:rPr lang="en-US" sz="2800" dirty="0"/>
              <a:t>Data Analysis and Model Building</a:t>
            </a:r>
            <a:endParaRPr lang="en-US" sz="2800" dirty="0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8652B-B439-4AB5-8773-417F1E05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855" y="609600"/>
            <a:ext cx="8554473" cy="1456267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solidFill>
                  <a:schemeClr val="tx1">
                    <a:lumMod val="85000"/>
                  </a:schemeClr>
                </a:solidFill>
                <a:latin typeface="Bahnschrift" panose="020B0502040204020203" pitchFamily="34" charset="0"/>
              </a:rPr>
              <a:t>Introduction</a:t>
            </a:r>
            <a:endParaRPr lang="en-US" sz="6000" b="1" dirty="0">
              <a:solidFill>
                <a:schemeClr val="tx1">
                  <a:lumMod val="8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BE6E4-2E22-A7B0-E10E-AE0DF7C16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latin typeface="Bahnschrift Condensed" panose="020B0502040204020203" pitchFamily="34" charset="0"/>
              </a:rPr>
              <a:t>Objective  :-</a:t>
            </a:r>
          </a:p>
          <a:p>
            <a:pPr algn="ctr">
              <a:buFont typeface="Wingdings" panose="05000000000000000000" pitchFamily="2" charset="2"/>
              <a:buChar char="Ø"/>
            </a:pPr>
            <a:r>
              <a:rPr lang="en-US" dirty="0"/>
              <a:t>Predict machine failure using various machine learning models.</a:t>
            </a:r>
          </a:p>
          <a:p>
            <a:pPr algn="ctr">
              <a:buFont typeface="Wingdings" panose="05000000000000000000" pitchFamily="2" charset="2"/>
              <a:buChar char="Ø"/>
            </a:pPr>
            <a:r>
              <a:rPr lang="en-US" dirty="0"/>
              <a:t>Compare model performance to select the best one.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latin typeface="Bahnschrift Condensed" panose="020B0502040204020203" pitchFamily="34" charset="0"/>
              </a:rPr>
              <a:t>Dataset  : -</a:t>
            </a:r>
          </a:p>
          <a:p>
            <a:pPr algn="ctr">
              <a:buFont typeface="Wingdings" panose="05000000000000000000" pitchFamily="2" charset="2"/>
              <a:buChar char="Ø"/>
            </a:pPr>
            <a:r>
              <a:rPr lang="en-US" sz="2200" dirty="0"/>
              <a:t>Industrial equipment maintenance dataset with features like temperature, rotational speed, torque, and tool wear.</a:t>
            </a:r>
            <a:endParaRPr lang="en-IN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Bahnschrift Condensed" panose="020B0502040204020203" pitchFamily="34" charset="0"/>
              </a:rPr>
              <a:t> </a:t>
            </a:r>
            <a:r>
              <a:rPr lang="en-IN" sz="2000" b="1" dirty="0">
                <a:latin typeface="Bahnschrift Condensed" panose="020B0502040204020203" pitchFamily="34" charset="0"/>
                <a:hlinkClick r:id="rId3" action="ppaction://hlinkfile"/>
              </a:rPr>
              <a:t>Maintenance_new.xlsx</a:t>
            </a:r>
            <a:endParaRPr lang="en-IN" sz="2000" b="1" dirty="0">
              <a:latin typeface="Bahnschrift Condensed" panose="020B0502040204020203" pitchFamily="34" charset="0"/>
            </a:endParaRPr>
          </a:p>
          <a:p>
            <a:pPr marL="0" indent="0">
              <a:buNone/>
            </a:pPr>
            <a:r>
              <a:rPr lang="en-IN" sz="2000" b="1" dirty="0">
                <a:latin typeface="Bahnschrift Condensed" panose="020B0502040204020203" pitchFamily="34" charset="0"/>
              </a:rPr>
              <a:t>                              </a:t>
            </a:r>
            <a:endParaRPr lang="en-US" sz="2000" b="1" dirty="0">
              <a:latin typeface="Bahnschrift Condensed" panose="020B0502040204020203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939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54CAA-130C-8574-C9E9-042EB9F0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57317"/>
            <a:ext cx="10131425" cy="1456267"/>
          </a:xfrm>
        </p:spPr>
        <p:txBody>
          <a:bodyPr/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Data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5AA3D1-CD08-D856-2B29-582D381DC9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541820"/>
            <a:ext cx="10812379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Dataset Description:</a:t>
            </a:r>
          </a:p>
          <a:p>
            <a:pPr marL="1600200" lvl="3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1600200" lvl="3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samples: 10,000</a:t>
            </a:r>
          </a:p>
          <a:p>
            <a:pPr marL="1600200" lvl="3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features: 10</a:t>
            </a:r>
          </a:p>
          <a:p>
            <a:pPr marL="1600200" lvl="3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Machine failure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Features: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 temperature [K]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temperature [K]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Rotational speed [rpm]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Torque [Nm]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wear [min]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(categorical)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46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D97F-9772-479E-32DA-7E94C086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CEAF6-6E61-DF55-839E-299E595C6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506" y="2142067"/>
            <a:ext cx="10131425" cy="36491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>
                <a:latin typeface="Bahnschrift" panose="020B0502040204020203" pitchFamily="34" charset="0"/>
              </a:rPr>
              <a:t>Steps Taken:</a:t>
            </a:r>
            <a:endParaRPr lang="en-US" sz="2800" dirty="0">
              <a:latin typeface="Bahnschrif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Dropped unnecessary columns (UDI, Product ID).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Checked for and handled duplicate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Managed missing values (if any).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Identified and managed outliers.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504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9D0D-A1ED-5974-0688-7F3399C9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>
                <a:latin typeface="Arial Rounded MT Bold" panose="020F0704030504030204" pitchFamily="34" charset="0"/>
              </a:rPr>
              <a:t>Data Distribution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7FE236-4448-9A4D-6D6B-A00A7E9D03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100087"/>
            <a:ext cx="10820398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800" b="1" dirty="0">
                <a:latin typeface="Arial Black" panose="020B0A04020102020204" pitchFamily="34" charset="0"/>
              </a:rPr>
              <a:t>Imbalanced Data: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Machine failure: Imbalanced (more non-failure cases)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Arial Black" panose="020B0A04020102020204" pitchFamily="34" charset="0"/>
              </a:rPr>
              <a:t>Count Plots:</a:t>
            </a:r>
          </a:p>
          <a:p>
            <a:pPr marR="0"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Machine failure distribution</a:t>
            </a:r>
          </a:p>
          <a:p>
            <a:pPr marR="0"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Type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3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7A4BE-1692-2D70-0041-9EE5A4874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dirty="0">
                <a:latin typeface="Bahnschrift" panose="020B0502040204020203" pitchFamily="34" charset="0"/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5B701-74AD-9D6C-860A-BE9B3BF41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Class Imbalance: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Machine failure: Imbalanced dataset.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Visualization: Count plots for machine failure and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Distribution Analysis: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Histograms of key features.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Boxplots to detect outliers.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77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AF1D8-19D1-7A3D-8AC4-8D2B39BC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dirty="0">
                <a:latin typeface="Bahnschrift" panose="020B0502040204020203" pitchFamily="34" charset="0"/>
              </a:rPr>
              <a:t>Outlier Treatment</a:t>
            </a:r>
            <a:br>
              <a:rPr lang="en-IN" sz="4400" b="1" dirty="0">
                <a:latin typeface="Bahnschrift" panose="020B0502040204020203" pitchFamily="34" charset="0"/>
              </a:rPr>
            </a:br>
            <a:endParaRPr lang="en-IN" sz="4400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21F8F-0FD9-4FBB-4ED5-DD35F2673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 Rounded MT Bold" panose="020F0704030504030204" pitchFamily="34" charset="0"/>
              </a:rPr>
              <a:t>Columns with Outliers</a:t>
            </a:r>
            <a:r>
              <a:rPr lang="en-US" b="1" dirty="0"/>
              <a:t>:</a:t>
            </a:r>
            <a:endParaRPr lang="en-US" dirty="0"/>
          </a:p>
          <a:p>
            <a:pPr lvl="4">
              <a:buFont typeface="Wingdings" panose="05000000000000000000" pitchFamily="2" charset="2"/>
              <a:buChar char="Ø"/>
            </a:pPr>
            <a:r>
              <a:rPr lang="en-US" sz="2000" dirty="0">
                <a:latin typeface="Bahnschrift SemiCondensed" panose="020B0502040204020203" pitchFamily="34" charset="0"/>
              </a:rPr>
              <a:t>Rotational speed [rpm]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US" sz="2000" dirty="0">
                <a:latin typeface="Bahnschrift SemiCondensed" panose="020B0502040204020203" pitchFamily="34" charset="0"/>
              </a:rPr>
              <a:t>Torque [Nm]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 Rounded MT Bold" panose="020F0704030504030204" pitchFamily="34" charset="0"/>
              </a:rPr>
              <a:t>Method: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US" sz="2000" dirty="0">
                <a:latin typeface="Bahnschrift SemiCondensed" panose="020B0502040204020203" pitchFamily="34" charset="0"/>
              </a:rPr>
              <a:t>Cap and floor using IQR method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4143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1149-8AA0-FA72-D6AF-5B83D6AF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446" y="609600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4400" dirty="0">
                <a:latin typeface="Bahnschrift" panose="020B0502040204020203" pitchFamily="34" charset="0"/>
              </a:rPr>
              <a:t>Correlation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764F04-E9A7-DD0F-67A6-EF5079258A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8588" y="2523977"/>
            <a:ext cx="7858431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3200" b="1" dirty="0">
                <a:latin typeface="Arial Rounded MT Bold" panose="020F0704030504030204" pitchFamily="34" charset="0"/>
              </a:rPr>
              <a:t>Correlation Matrix: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relationships between features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3200" b="1" dirty="0">
                <a:latin typeface="Arial Rounded MT Bold" panose="020F0704030504030204" pitchFamily="34" charset="0"/>
              </a:rPr>
              <a:t>Heatmap: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Identify highly correlated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62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6683-8CA1-CCAE-5CE3-75451F115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Arial Black" panose="020B0A04020102020204" pitchFamily="34" charset="0"/>
              </a:rPr>
              <a:t>Feature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81A6B8-456C-7AEE-0B13-6168E51D93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4231" y="2840163"/>
            <a:ext cx="88686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One-Hot Encoding: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Categorical variable 'Type' encoded.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Resulting Dataset: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shape and new feature columns.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6673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2675-65AC-4EE7-3794-6FD47EA44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Arial Rounded MT Bold" panose="020F0704030504030204" pitchFamily="34" charset="0"/>
              </a:rPr>
              <a:t>Train-Test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353D3-7A27-4CCB-CF3E-58A2477B4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Bahnschrift" panose="020B0502040204020203" pitchFamily="34" charset="0"/>
              </a:rPr>
              <a:t>Data Split: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Train: 80%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Test: 20%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Random state: 42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179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638EE-E881-D47F-AD2B-A228AE5A2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 Rounded MT Bold" panose="020F0704030504030204" pitchFamily="34" charset="0"/>
              </a:rPr>
              <a:t>Handling Imbalanced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8E5E8-D60F-39BF-60A4-328E098F6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SMOTE:</a:t>
            </a: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Synthetic Minority Over-sampling Technique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Applied to balance the training dataset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09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311EE-96CD-C324-A5A7-F815E31B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29C11-8400-F6CC-10B0-FBDDCE228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3000" b="1" dirty="0">
                <a:latin typeface="Arial Rounded MT Bold" panose="020F0704030504030204" pitchFamily="34" charset="0"/>
              </a:rPr>
              <a:t>Models Evaluated: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Logistic Regression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Random Forest Classifier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 err="1"/>
              <a:t>XGBoost</a:t>
            </a:r>
            <a:r>
              <a:rPr lang="en-IN" sz="2400" dirty="0"/>
              <a:t> Classifier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Support Vector Classifier (SVC)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Decision Tree Classifier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260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2FEC-5C98-85F1-6BBE-566D4730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Bahnschrift" panose="020B0502040204020203" pitchFamily="34" charset="0"/>
              </a:rPr>
              <a:t>Logistic Regression Results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C97DAA-ECA5-9A6C-0670-A1B6800E7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 Rounded MT Bold" panose="020F0704030504030204" pitchFamily="34" charset="0"/>
              </a:rPr>
              <a:t>Metrics: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Accuracy: [ 0.97 ]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Precision: [ 0.50 ]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Recall: [ 0.96 ]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F1-score: [ 0.66 ]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ROC-AUC score: [ 0.98 ]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30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DA4CA-02F7-5938-EA9D-9B99CBFDD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Bahnschrift" panose="020B0502040204020203" pitchFamily="34" charset="0"/>
              </a:rPr>
              <a:t>Random Forest Results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58E1E011-839C-8B02-44B9-927545B4C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41538"/>
            <a:ext cx="10131425" cy="36496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 Rounded MT Bold" panose="020F0704030504030204" pitchFamily="34" charset="0"/>
              </a:rPr>
              <a:t>Metrics: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Accuracy: [ 0.88 ]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Precision: [ 0.18 ]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Recall: [ 0.81 ]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F1-score: [ 0.30 ]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ROC-AUC score: [ 0.94 ]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143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1F76A-6FD0-7134-726B-2432D1794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err="1">
                <a:latin typeface="Bahnschrift" panose="020B0502040204020203" pitchFamily="34" charset="0"/>
              </a:rPr>
              <a:t>XGBoost</a:t>
            </a:r>
            <a:r>
              <a:rPr lang="en-IN" b="1" dirty="0">
                <a:latin typeface="Bahnschrift" panose="020B0502040204020203" pitchFamily="34" charset="0"/>
              </a:rPr>
              <a:t> Results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5B438E41-6F58-A7E9-3383-C8E23A0F0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41538"/>
            <a:ext cx="10131425" cy="36496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 Rounded MT Bold" panose="020F0704030504030204" pitchFamily="34" charset="0"/>
              </a:rPr>
              <a:t>Metrics: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Accuracy: [ 0.99 ]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Precision: [ 1.0 ]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Recall: [ 0.96 ]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F1-score: [ 0.98 ]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ROC-AUC score: [ 0.98 ]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584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5812F-874C-0E80-7DBA-55C49248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Bahnschrift" panose="020B0502040204020203" pitchFamily="34" charset="0"/>
              </a:rPr>
              <a:t>Support Vector Classifier Results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50F05D36-E5DA-4FD6-5EED-E8D071B6E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41538"/>
            <a:ext cx="10131425" cy="36496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 Rounded MT Bold" panose="020F0704030504030204" pitchFamily="34" charset="0"/>
              </a:rPr>
              <a:t>Metrics: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Accuracy: [ 0.78 ]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Precision: [ 0.10 ]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Recall: [ 0.80 ]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F1-score: [ 0.18 ]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ROC-AUC score: [ 0.86 ]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19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482D5-EEF9-54BB-00DC-C4375DC1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Bahnschrift" panose="020B0502040204020203" pitchFamily="34" charset="0"/>
              </a:rPr>
              <a:t>Decision Tree Results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E417F149-985C-3B13-9975-E96B56C90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41538"/>
            <a:ext cx="10131425" cy="36496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 Rounded MT Bold" panose="020F0704030504030204" pitchFamily="34" charset="0"/>
              </a:rPr>
              <a:t>Metrics: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Accuracy: [ 0.94 ]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Precision: [ 0.37 ]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Recall: [ 0.93 ]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F1-score: [ 0.53 ]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ROC-AUC score: [ 0.97 ]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454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17EC7-C22C-69A1-153F-A0D768C9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Bahnschrift" panose="020B0502040204020203" pitchFamily="34" charset="0"/>
              </a:rPr>
              <a:t>Model Comparison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9C7E809D-7749-1BED-F66D-571AADF5F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41538"/>
            <a:ext cx="10131425" cy="36496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 Rounded MT Bold" panose="020F0704030504030204" pitchFamily="34" charset="0"/>
              </a:rPr>
              <a:t>Metrics:</a:t>
            </a:r>
          </a:p>
          <a:p>
            <a:pPr marL="1600200" lvl="3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Logistic Regression: [ 0.97 ]</a:t>
            </a:r>
          </a:p>
          <a:p>
            <a:pPr marL="1600200" lvl="3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Random Forest: [ 0.88 ]</a:t>
            </a:r>
          </a:p>
          <a:p>
            <a:pPr marL="1600200" lvl="3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[ 0.99 ]</a:t>
            </a:r>
          </a:p>
          <a:p>
            <a:pPr marL="1600200" lvl="3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SVC: [ 0.78 ]</a:t>
            </a:r>
          </a:p>
          <a:p>
            <a:pPr marL="1600200" lvl="3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Decision Tree: [ 0.94 ]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25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E9138-D969-E754-2264-7A266D6E3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27819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Bahnschrift" panose="020B0502040204020203" pitchFamily="34" charset="0"/>
              </a:rPr>
              <a:t>Conclusion</a:t>
            </a:r>
            <a:endParaRPr lang="en-IN" sz="4000" dirty="0">
              <a:latin typeface="Bahnschrift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E10BA3-6251-E6F2-8E35-31BD554A76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439660"/>
            <a:ext cx="7446269" cy="5053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Summary: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914400" lvl="2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performed best overall</a:t>
            </a:r>
          </a:p>
          <a:p>
            <a:pPr marL="914400" lvl="2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handling of imbalanced data using SMOTE</a:t>
            </a:r>
          </a:p>
          <a:p>
            <a:pPr marL="914400" lvl="2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 features influencing machine failure prediction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Arial Black" panose="020B0A04020102020204" pitchFamily="34" charset="0"/>
              </a:rPr>
              <a:t>Future Work:</a:t>
            </a:r>
          </a:p>
          <a:p>
            <a:pPr marL="914400" lvl="2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Explore additional feature engineering techniques</a:t>
            </a:r>
          </a:p>
          <a:p>
            <a:pPr marL="914400" lvl="2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Evaluate more advanced models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32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D866-B13E-A38C-4409-360C35B5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Bahnschrift" panose="020B0502040204020203" pitchFamily="34" charset="0"/>
              </a:rPr>
              <a:t>Model Deployment with </a:t>
            </a:r>
            <a:r>
              <a:rPr lang="en-IN" b="1" dirty="0" err="1">
                <a:latin typeface="Bahnschrift" panose="020B0502040204020203" pitchFamily="34" charset="0"/>
              </a:rPr>
              <a:t>Streamlit</a:t>
            </a:r>
            <a:endParaRPr lang="en-IN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19AF0-73D3-5C1F-C9E4-B5C8C0E3B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 Black" panose="020B0A04020102020204" pitchFamily="34" charset="0"/>
              </a:rPr>
              <a:t>Introduction: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b="1" dirty="0"/>
              <a:t>Deploying the Logistic Regression model using </a:t>
            </a:r>
            <a:r>
              <a:rPr lang="en-US" sz="2000" b="1" dirty="0" err="1"/>
              <a:t>Streamlit</a:t>
            </a:r>
            <a:r>
              <a:rPr lang="en-US" sz="2000" b="1" dirty="0"/>
              <a:t>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b="1" dirty="0"/>
              <a:t>Allows users to input parameters and get real-time predictions.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07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AC26-16B2-EFBB-5C33-AFAA6C8D6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 err="1">
                <a:latin typeface="Bahnschrift" panose="020B0502040204020203" pitchFamily="34" charset="0"/>
              </a:rPr>
              <a:t>Streamlit</a:t>
            </a:r>
            <a:r>
              <a:rPr lang="en-IN" sz="4000" b="1" dirty="0">
                <a:latin typeface="Bahnschrift" panose="020B0502040204020203" pitchFamily="34" charset="0"/>
              </a:rPr>
              <a:t> App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8CB052-F4A4-FA1E-DCE5-102616E531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799375"/>
            <a:ext cx="6123792" cy="4334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400" b="1" dirty="0">
                <a:latin typeface="Arial Black" panose="020B0A04020102020204" pitchFamily="34" charset="0"/>
              </a:rPr>
              <a:t>Title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Deployment: Logistic Regression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400" b="1" dirty="0">
                <a:latin typeface="Arial Black" panose="020B0A04020102020204" pitchFamily="34" charset="0"/>
              </a:rPr>
              <a:t>Sidebar Header: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 Parameters</a:t>
            </a:r>
          </a:p>
          <a:p>
            <a:pPr marR="0"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400" b="1" dirty="0">
                <a:latin typeface="Arial Black" panose="020B0A04020102020204" pitchFamily="34" charset="0"/>
              </a:rPr>
              <a:t>Main Page: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the title of the app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the user input parameters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data summary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predicted results and prediction probabilities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75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7BEAEB-E8CF-9A18-2E20-CFE246C49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116" y="635409"/>
            <a:ext cx="11522329" cy="5587181"/>
          </a:xfrm>
        </p:spPr>
      </p:pic>
    </p:spTree>
    <p:extLst>
      <p:ext uri="{BB962C8B-B14F-4D97-AF65-F5344CB8AC3E}">
        <p14:creationId xmlns:p14="http://schemas.microsoft.com/office/powerpoint/2010/main" val="404923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ABE61-48CC-5481-F026-4764BC7F7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951" y="147484"/>
            <a:ext cx="10131425" cy="1456267"/>
          </a:xfrm>
        </p:spPr>
        <p:txBody>
          <a:bodyPr/>
          <a:lstStyle/>
          <a:p>
            <a:pPr algn="ctr"/>
            <a:r>
              <a:rPr lang="en-IN" b="1" dirty="0">
                <a:latin typeface="Bahnschrift" panose="020B0502040204020203" pitchFamily="34" charset="0"/>
              </a:rPr>
              <a:t>User Input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DF5E5-844A-24C4-1D6F-FF160E6B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910" y="2172929"/>
            <a:ext cx="10237123" cy="4090219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800" b="1" dirty="0">
                <a:latin typeface="Arial Black" panose="020B0A04020102020204" pitchFamily="34" charset="0"/>
              </a:rPr>
              <a:t>Parameters:</a:t>
            </a:r>
          </a:p>
          <a:p>
            <a:pPr lvl="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900" dirty="0"/>
              <a:t>Type (Low, Medium, High)</a:t>
            </a:r>
          </a:p>
          <a:p>
            <a:pPr lvl="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900" dirty="0"/>
              <a:t>Air temperature [K]</a:t>
            </a:r>
          </a:p>
          <a:p>
            <a:pPr lvl="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900" dirty="0"/>
              <a:t>Process temperature [K]</a:t>
            </a:r>
          </a:p>
          <a:p>
            <a:pPr lvl="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900" dirty="0"/>
              <a:t>Rotational speed [rpm]</a:t>
            </a:r>
          </a:p>
          <a:p>
            <a:pPr lvl="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900" dirty="0"/>
              <a:t>Torque [Nm]</a:t>
            </a:r>
          </a:p>
          <a:p>
            <a:pPr lvl="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900" dirty="0"/>
              <a:t>Tool wear [min]</a:t>
            </a:r>
          </a:p>
          <a:p>
            <a:pPr lvl="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900" dirty="0"/>
              <a:t>TWF, HDF, PWF, OSF, RNF (binary indicators)</a:t>
            </a:r>
          </a:p>
          <a:p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5A7D319-8CC7-AAC1-0564-84E50F667F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824"/>
          <a:stretch/>
        </p:blipFill>
        <p:spPr>
          <a:xfrm>
            <a:off x="8593154" y="1113096"/>
            <a:ext cx="3457508" cy="515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EDB0-9341-8767-5A82-B0A033E3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89271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Bahnschrift" panose="020B0502040204020203" pitchFamily="34" charset="0"/>
              </a:rPr>
              <a:t>Data Summary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464CEF-A943-0D9C-4CB4-9E5BA8695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3" y="1645538"/>
            <a:ext cx="10541923" cy="46028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600" b="1" dirty="0"/>
              <a:t>Data Description: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1800" b="1" dirty="0" err="1"/>
              <a:t>Type_L</a:t>
            </a:r>
            <a:r>
              <a:rPr lang="en-IN" sz="1800" b="1" dirty="0"/>
              <a:t>: 1 if 50% product quality variant else 0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1800" b="1" dirty="0" err="1"/>
              <a:t>Type_M</a:t>
            </a:r>
            <a:r>
              <a:rPr lang="en-IN" sz="1800" b="1" dirty="0"/>
              <a:t>: 1 if 30% product quality variant else 0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1800" b="1" dirty="0" err="1"/>
              <a:t>Type_H</a:t>
            </a:r>
            <a:r>
              <a:rPr lang="en-IN" sz="1800" b="1" dirty="0"/>
              <a:t>: 1 if 20% product quality variant else 0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1800" b="1" dirty="0"/>
              <a:t>Air temperature [K]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1800" b="1" dirty="0"/>
              <a:t>Process temperature [K]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1800" b="1" dirty="0"/>
              <a:t>Rotational speed [rpm]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1800" b="1" dirty="0"/>
              <a:t>Torque [Nm]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1800" b="1" dirty="0"/>
              <a:t>Tool wear [min]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1800" b="1" dirty="0"/>
              <a:t>TWF, HDF, PWF, OSF, RNF (binary indicators)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639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BC7E-2E8B-7864-FC07-1728DA7C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err="1">
                <a:latin typeface="Bahnschrift" panose="020B0502040204020203" pitchFamily="34" charset="0"/>
              </a:rPr>
              <a:t>Streamlit</a:t>
            </a:r>
            <a:r>
              <a:rPr lang="fr-FR" b="1" dirty="0">
                <a:latin typeface="Bahnschrift" panose="020B0502040204020203" pitchFamily="34" charset="0"/>
              </a:rPr>
              <a:t> App Code - Part 1</a:t>
            </a:r>
            <a:endParaRPr lang="en-IN" b="1" dirty="0">
              <a:latin typeface="Bahnschrift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9B45E9-EFB4-A1B0-9322-DB7BED14A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474" y="2383947"/>
            <a:ext cx="5677145" cy="3180505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39955C52-9FD0-3143-9AD0-E3CF92D5B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4361" y="303816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necessary libraries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up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title and sidebar header </a:t>
            </a:r>
          </a:p>
        </p:txBody>
      </p:sp>
    </p:spTree>
    <p:extLst>
      <p:ext uri="{BB962C8B-B14F-4D97-AF65-F5344CB8AC3E}">
        <p14:creationId xmlns:p14="http://schemas.microsoft.com/office/powerpoint/2010/main" val="793368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D5E6-9DDA-2128-2F10-2B15F339A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91729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 err="1">
                <a:latin typeface="Bahnschrift" panose="020B0502040204020203" pitchFamily="34" charset="0"/>
              </a:rPr>
              <a:t>Streamlit</a:t>
            </a:r>
            <a:r>
              <a:rPr lang="fr-FR" sz="4000" b="1" dirty="0">
                <a:latin typeface="Bahnschrift" panose="020B0502040204020203" pitchFamily="34" charset="0"/>
              </a:rPr>
              <a:t> App Code - Part 2</a:t>
            </a:r>
            <a:endParaRPr lang="en-IN" sz="4000" b="1" dirty="0">
              <a:latin typeface="Bahnschrift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70F539-E4F8-B3D8-F7CE-576D6F7AD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1817074"/>
            <a:ext cx="5744292" cy="489835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D2AEFA-29B0-F131-4072-25FA7C329617}"/>
              </a:ext>
            </a:extLst>
          </p:cNvPr>
          <p:cNvSpPr txBox="1"/>
          <p:nvPr/>
        </p:nvSpPr>
        <p:spPr>
          <a:xfrm>
            <a:off x="6676103" y="2560680"/>
            <a:ext cx="4355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Function to capture user input parameters</a:t>
            </a:r>
            <a:endParaRPr lang="en-IN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6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3817A-BC7C-C85B-5639-C52525CB0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85136"/>
            <a:ext cx="10131425" cy="1456267"/>
          </a:xfrm>
        </p:spPr>
        <p:txBody>
          <a:bodyPr/>
          <a:lstStyle/>
          <a:p>
            <a:pPr algn="ctr"/>
            <a:r>
              <a:rPr lang="fr-FR" b="1" dirty="0" err="1">
                <a:latin typeface="Bahnschrift" panose="020B0502040204020203" pitchFamily="34" charset="0"/>
              </a:rPr>
              <a:t>Streamlit</a:t>
            </a:r>
            <a:r>
              <a:rPr lang="fr-FR" b="1" dirty="0">
                <a:latin typeface="Bahnschrift" panose="020B0502040204020203" pitchFamily="34" charset="0"/>
              </a:rPr>
              <a:t> App Code - Part 3</a:t>
            </a:r>
            <a:endParaRPr lang="en-IN" b="1" dirty="0">
              <a:latin typeface="Bahnschrift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2821BE-2D81-3AAC-06F9-1248FF606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2065867"/>
            <a:ext cx="10131425" cy="320655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3A82C2-55DD-E0DA-A610-2255003828E0}"/>
              </a:ext>
            </a:extLst>
          </p:cNvPr>
          <p:cNvSpPr txBox="1"/>
          <p:nvPr/>
        </p:nvSpPr>
        <p:spPr>
          <a:xfrm>
            <a:off x="1170038" y="5487699"/>
            <a:ext cx="98814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Black" panose="020B0A04020102020204" pitchFamily="34" charset="0"/>
              </a:rPr>
              <a:t>Display user input parameters and data summary</a:t>
            </a:r>
          </a:p>
        </p:txBody>
      </p:sp>
    </p:spTree>
    <p:extLst>
      <p:ext uri="{BB962C8B-B14F-4D97-AF65-F5344CB8AC3E}">
        <p14:creationId xmlns:p14="http://schemas.microsoft.com/office/powerpoint/2010/main" val="354450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F9FE9-224A-BB1B-6E3F-1BD425424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err="1">
                <a:latin typeface="Bahnschrift" panose="020B0502040204020203" pitchFamily="34" charset="0"/>
              </a:rPr>
              <a:t>Streamlit</a:t>
            </a:r>
            <a:r>
              <a:rPr lang="fr-FR" b="1" dirty="0">
                <a:latin typeface="Bahnschrift" panose="020B0502040204020203" pitchFamily="34" charset="0"/>
              </a:rPr>
              <a:t> App Code - Part 4</a:t>
            </a:r>
            <a:endParaRPr lang="en-IN" b="1" dirty="0">
              <a:latin typeface="Bahnschrift" panose="020B0502040204020203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8BC4C8-D1F7-68C5-23E0-C011DADCB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732" y="2272998"/>
            <a:ext cx="8135485" cy="3229426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7BF35C-B3FA-57AB-C576-9BEB13765AD1}"/>
              </a:ext>
            </a:extLst>
          </p:cNvPr>
          <p:cNvSpPr txBox="1"/>
          <p:nvPr/>
        </p:nvSpPr>
        <p:spPr>
          <a:xfrm>
            <a:off x="8288594" y="3072103"/>
            <a:ext cx="410988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Load and preprocess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Train Logistic Regression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Make predictions</a:t>
            </a:r>
          </a:p>
        </p:txBody>
      </p:sp>
    </p:spTree>
    <p:extLst>
      <p:ext uri="{BB962C8B-B14F-4D97-AF65-F5344CB8AC3E}">
        <p14:creationId xmlns:p14="http://schemas.microsoft.com/office/powerpoint/2010/main" val="114618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0265A-BFE7-0AED-6481-C3228A71A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err="1">
                <a:latin typeface="Bahnschrift" panose="020B0502040204020203" pitchFamily="34" charset="0"/>
              </a:rPr>
              <a:t>Streamlit</a:t>
            </a:r>
            <a:r>
              <a:rPr lang="fr-FR" b="1" dirty="0">
                <a:latin typeface="Bahnschrift" panose="020B0502040204020203" pitchFamily="34" charset="0"/>
              </a:rPr>
              <a:t> App Code - Part 5</a:t>
            </a:r>
            <a:endParaRPr lang="en-IN" b="1" dirty="0"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C9D03-9E7D-3023-FC41-44B4492F273E}"/>
              </a:ext>
            </a:extLst>
          </p:cNvPr>
          <p:cNvSpPr txBox="1"/>
          <p:nvPr/>
        </p:nvSpPr>
        <p:spPr>
          <a:xfrm>
            <a:off x="1179870" y="4543802"/>
            <a:ext cx="90260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400" b="1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 Black" panose="020B0A04020102020204" pitchFamily="34" charset="0"/>
              </a:rPr>
              <a:t>Display predicted results and prediction probabilities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17155D2-BB1C-D8BC-75F7-FCFC86A13A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6137" y="2280784"/>
            <a:ext cx="8378345" cy="1687512"/>
          </a:xfrm>
        </p:spPr>
      </p:pic>
    </p:spTree>
    <p:extLst>
      <p:ext uri="{BB962C8B-B14F-4D97-AF65-F5344CB8AC3E}">
        <p14:creationId xmlns:p14="http://schemas.microsoft.com/office/powerpoint/2010/main" val="421140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F0365-B932-0752-845B-DE917283D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latin typeface="Bahnschrift" panose="020B0502040204020203" pitchFamily="34" charset="0"/>
              </a:rPr>
              <a:t>CONCLUSION</a:t>
            </a:r>
            <a:endParaRPr lang="en-IN" sz="4400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359AD-78A7-36AA-D1D8-D5D6C5A22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Summary: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>
                <a:latin typeface="Aptos" panose="020B0004020202020204" pitchFamily="34" charset="0"/>
              </a:rPr>
              <a:t>Successfully deployed Logistic Regression model using </a:t>
            </a:r>
            <a:r>
              <a:rPr lang="en-US" sz="2000" dirty="0" err="1">
                <a:latin typeface="Aptos" panose="020B0004020202020204" pitchFamily="34" charset="0"/>
              </a:rPr>
              <a:t>Streamlit</a:t>
            </a:r>
            <a:r>
              <a:rPr lang="en-US" sz="2000" dirty="0">
                <a:latin typeface="Aptos" panose="020B0004020202020204" pitchFamily="34" charset="0"/>
              </a:rPr>
              <a:t>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>
                <a:latin typeface="Aptos" panose="020B0004020202020204" pitchFamily="34" charset="0"/>
              </a:rPr>
              <a:t>Real-time predictions based on user input parameters.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Future Improvements: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>
                <a:latin typeface="Aptos" panose="020B0004020202020204" pitchFamily="34" charset="0"/>
              </a:rPr>
              <a:t>Enhance the app with more models.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>
                <a:latin typeface="Aptos" panose="020B0004020202020204" pitchFamily="34" charset="0"/>
              </a:rPr>
              <a:t>Improve user interface and experience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209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spots">
            <a:extLst>
              <a:ext uri="{FF2B5EF4-FFF2-40B4-BE49-F238E27FC236}">
                <a16:creationId xmlns:a16="http://schemas.microsoft.com/office/drawing/2014/main" id="{20A520D0-11CF-4639-8537-F56A8A2F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573867"/>
            <a:ext cx="7197726" cy="2421464"/>
          </a:xfrm>
        </p:spPr>
        <p:txBody>
          <a:bodyPr>
            <a:normAutofit/>
          </a:bodyPr>
          <a:lstStyle/>
          <a:p>
            <a:r>
              <a:rPr lang="en-US" b="1" dirty="0">
                <a:latin typeface="Bahnschrift" panose="020B0502040204020203" pitchFamily="34" charset="0"/>
              </a:rPr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4FA72-B055-4AE3-A6FD-8071BD687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95332"/>
            <a:ext cx="7197726" cy="14054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Any question?</a:t>
            </a:r>
          </a:p>
        </p:txBody>
      </p:sp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E8D3305-1D9D-4BC8-A40F-6F8AE50BD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08B90B-70ED-4539-9C14-FB2728D906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design</Template>
  <TotalTime>291</TotalTime>
  <Words>842</Words>
  <Application>Microsoft Office PowerPoint</Application>
  <PresentationFormat>Widescreen</PresentationFormat>
  <Paragraphs>194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Aptos</vt:lpstr>
      <vt:lpstr>Arial</vt:lpstr>
      <vt:lpstr>Arial Black</vt:lpstr>
      <vt:lpstr>Arial Rounded MT Bold</vt:lpstr>
      <vt:lpstr>Bahnschrift</vt:lpstr>
      <vt:lpstr>Bahnschrift Condensed</vt:lpstr>
      <vt:lpstr>Bahnschrift SemiCondensed</vt:lpstr>
      <vt:lpstr>Calibri</vt:lpstr>
      <vt:lpstr>Calibri Light</vt:lpstr>
      <vt:lpstr>Wingdings</vt:lpstr>
      <vt:lpstr>Celestial</vt:lpstr>
      <vt:lpstr>Machine Failure Prediction</vt:lpstr>
      <vt:lpstr>Introduction</vt:lpstr>
      <vt:lpstr>Data Overview </vt:lpstr>
      <vt:lpstr>Data Preprocessing</vt:lpstr>
      <vt:lpstr>Data Distribution</vt:lpstr>
      <vt:lpstr>Exploratory Data Analysis (EDA)</vt:lpstr>
      <vt:lpstr>Outlier Treatment </vt:lpstr>
      <vt:lpstr>Correlation Analysis</vt:lpstr>
      <vt:lpstr>Feature Engineering</vt:lpstr>
      <vt:lpstr>Train-Test Split</vt:lpstr>
      <vt:lpstr>Handling Imbalanced Data</vt:lpstr>
      <vt:lpstr>Model Building</vt:lpstr>
      <vt:lpstr>Logistic Regression Results</vt:lpstr>
      <vt:lpstr>Random Forest Results</vt:lpstr>
      <vt:lpstr>XGBoost Results</vt:lpstr>
      <vt:lpstr>Support Vector Classifier Results</vt:lpstr>
      <vt:lpstr>Decision Tree Results</vt:lpstr>
      <vt:lpstr>Model Comparison</vt:lpstr>
      <vt:lpstr>Conclusion</vt:lpstr>
      <vt:lpstr>Model Deployment with Streamlit</vt:lpstr>
      <vt:lpstr>Streamlit App Overview</vt:lpstr>
      <vt:lpstr>PowerPoint Presentation</vt:lpstr>
      <vt:lpstr>User Input Parameters</vt:lpstr>
      <vt:lpstr>Data Summary</vt:lpstr>
      <vt:lpstr>Streamlit App Code - Part 1</vt:lpstr>
      <vt:lpstr>Streamlit App Code - Part 2</vt:lpstr>
      <vt:lpstr>Streamlit App Code - Part 3</vt:lpstr>
      <vt:lpstr>Streamlit App Code - Part 4</vt:lpstr>
      <vt:lpstr>Streamlit App Code - Part 5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Gurav</dc:creator>
  <cp:lastModifiedBy>Daksh Panchal</cp:lastModifiedBy>
  <cp:revision>18</cp:revision>
  <dcterms:created xsi:type="dcterms:W3CDTF">2024-06-17T14:33:23Z</dcterms:created>
  <dcterms:modified xsi:type="dcterms:W3CDTF">2025-05-02T09:58:27Z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